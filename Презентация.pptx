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0" r:id="rId6"/>
    <p:sldId id="265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4240"/>
    <a:srgbClr val="232227"/>
    <a:srgbClr val="F7E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73800" y="2659559"/>
            <a:ext cx="7543800" cy="76944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en-US" dirty="0"/>
              <a:t>WAF Service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73800" y="3937000"/>
            <a:ext cx="75438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ru-RU" dirty="0"/>
              <a:t>Представляю </a:t>
            </a:r>
            <a:r>
              <a:rPr lang="ru-RU" b="1" dirty="0"/>
              <a:t>WAF Service</a:t>
            </a:r>
            <a:r>
              <a:rPr lang="ru-RU" dirty="0"/>
              <a:t> — облачный межсетевой экран для защиты веб-сайтов от хакерских атак. Вас ждет надежная фильтрация SQL-инъекций, XSS и других угроз, где каждый запрос проходит тщательную проверку, а уникальная система правил и удобный личный кабинет открывают полный контроль над безопасностью вашего сайта.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1ABCB-52DB-A752-66E7-ABB169988763}"/>
              </a:ext>
            </a:extLst>
          </p:cNvPr>
          <p:cNvSpPr txBox="1"/>
          <p:nvPr/>
        </p:nvSpPr>
        <p:spPr>
          <a:xfrm>
            <a:off x="11243639" y="7656222"/>
            <a:ext cx="338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Никифоров Матвей Дмитриевич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00509823-8CCA-F3B1-503F-084AF901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70460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3509005"/>
            <a:ext cx="13106400" cy="76944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ru-RU" sz="4400" b="1">
                <a:solidFill>
                  <a:srgbClr val="454240"/>
                </a:solidFill>
              </a:rPr>
              <a:t>Идея проекта</a:t>
            </a:r>
            <a:r>
              <a:rPr lang="en-US" sz="4400" b="1">
                <a:solidFill>
                  <a:srgbClr val="454240"/>
                </a:solidFill>
              </a:rPr>
              <a:t>:</a:t>
            </a:r>
            <a:endParaRPr lang="ru-RU" sz="4400" b="1" dirty="0">
              <a:solidFill>
                <a:srgbClr val="454240"/>
              </a:solidFill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CAB7CD04-F711-20F8-331F-03C11DA1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4630400" cy="3302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5FD844-669F-623D-D9B8-B6474A6B353E}"/>
              </a:ext>
            </a:extLst>
          </p:cNvPr>
          <p:cNvSpPr txBox="1"/>
          <p:nvPr/>
        </p:nvSpPr>
        <p:spPr>
          <a:xfrm>
            <a:off x="762000" y="4645555"/>
            <a:ext cx="1150966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454240"/>
                </a:solidFill>
              </a:rPr>
              <a:t>Создать облачный сервис, который:</a:t>
            </a:r>
          </a:p>
          <a:p>
            <a:r>
              <a:rPr lang="en-US" sz="2500" dirty="0">
                <a:solidFill>
                  <a:srgbClr val="454240"/>
                </a:solidFill>
              </a:rPr>
              <a:t>1. </a:t>
            </a:r>
            <a:r>
              <a:rPr lang="ru-RU" sz="2500" dirty="0">
                <a:solidFill>
                  <a:srgbClr val="454240"/>
                </a:solidFill>
              </a:rPr>
              <a:t>Анализирует все запросы к сайту</a:t>
            </a:r>
          </a:p>
          <a:p>
            <a:r>
              <a:rPr lang="en-US" sz="2500" dirty="0">
                <a:solidFill>
                  <a:srgbClr val="454240"/>
                </a:solidFill>
              </a:rPr>
              <a:t>2. </a:t>
            </a:r>
            <a:r>
              <a:rPr lang="ru-RU" sz="2500" dirty="0">
                <a:solidFill>
                  <a:srgbClr val="454240"/>
                </a:solidFill>
              </a:rPr>
              <a:t>Блокирует атаки до того, как они достигнут сервера</a:t>
            </a:r>
          </a:p>
          <a:p>
            <a:r>
              <a:rPr lang="en-US" sz="2500" dirty="0">
                <a:solidFill>
                  <a:srgbClr val="454240"/>
                </a:solidFill>
              </a:rPr>
              <a:t>3. </a:t>
            </a:r>
            <a:r>
              <a:rPr lang="ru-RU" sz="2500" dirty="0">
                <a:solidFill>
                  <a:srgbClr val="454240"/>
                </a:solidFill>
              </a:rPr>
              <a:t>Предоставляет владельцу сайта личный кабинет со статистикой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42164500-E8DE-F07F-66A5-CA4CEF6F3468}"/>
              </a:ext>
            </a:extLst>
          </p:cNvPr>
          <p:cNvSpPr/>
          <p:nvPr/>
        </p:nvSpPr>
        <p:spPr>
          <a:xfrm>
            <a:off x="5157240" y="4650210"/>
            <a:ext cx="3657600" cy="769441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BA75C5A9-EBC1-339D-6E63-09CF4B5B5809}"/>
              </a:ext>
            </a:extLst>
          </p:cNvPr>
          <p:cNvSpPr/>
          <p:nvPr/>
        </p:nvSpPr>
        <p:spPr>
          <a:xfrm>
            <a:off x="5014076" y="1387762"/>
            <a:ext cx="3657600" cy="769441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4982" y="351879"/>
            <a:ext cx="7229763" cy="76944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 err="1"/>
              <a:t>Технологии</a:t>
            </a:r>
            <a:r>
              <a:rPr dirty="0"/>
              <a:t> </a:t>
            </a:r>
            <a:r>
              <a:rPr dirty="0" err="1"/>
              <a:t>разработки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95976" y="1396999"/>
            <a:ext cx="3657600" cy="769441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74200" y="1387762"/>
            <a:ext cx="3657600" cy="760205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0467" y="4052595"/>
            <a:ext cx="406861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dirty="0"/>
              <a:t>Используемые библиотеки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04982" y="2157203"/>
            <a:ext cx="35306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/>
              <a:t>Python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быструю</a:t>
            </a:r>
            <a:r>
              <a:rPr dirty="0"/>
              <a:t> </a:t>
            </a:r>
            <a:r>
              <a:rPr dirty="0" err="1"/>
              <a:t>разработку</a:t>
            </a:r>
            <a:r>
              <a:rPr lang="en-US" dirty="0"/>
              <a:t> </a:t>
            </a:r>
            <a:r>
              <a:rPr lang="ru-RU" dirty="0"/>
              <a:t>и доступ к большому </a:t>
            </a:r>
            <a:r>
              <a:rPr lang="ru-RU" dirty="0" err="1"/>
              <a:t>колличеству</a:t>
            </a:r>
            <a:r>
              <a:rPr lang="ru-RU" dirty="0"/>
              <a:t> библиотек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284240" y="1566275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ru-RU" sz="2200" dirty="0">
                <a:solidFill>
                  <a:srgbClr val="454240"/>
                </a:solidFill>
              </a:rPr>
              <a:t>База данных </a:t>
            </a:r>
            <a:r>
              <a:rPr lang="en-US" sz="2200" dirty="0">
                <a:solidFill>
                  <a:srgbClr val="454240"/>
                </a:solidFill>
              </a:rPr>
              <a:t>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3700" y="4844386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en-US" sz="2200" dirty="0" err="1">
                <a:solidFill>
                  <a:srgbClr val="454240"/>
                </a:solidFill>
              </a:rPr>
              <a:t>SQLAlchemy</a:t>
            </a:r>
            <a:endParaRPr lang="en-US" sz="2200" dirty="0">
              <a:solidFill>
                <a:srgbClr val="45424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27600" y="2168570"/>
            <a:ext cx="35306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dirty="0"/>
              <a:t>Даёт возможность хранить информацию о нескольких пользователях, разделяя записи по идентификаторам.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F0AE6-D595-42D1-4CCE-1D4BB46E891A}"/>
              </a:ext>
            </a:extLst>
          </p:cNvPr>
          <p:cNvSpPr txBox="1"/>
          <p:nvPr/>
        </p:nvSpPr>
        <p:spPr>
          <a:xfrm>
            <a:off x="1397000" y="1552420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sz="2200" dirty="0"/>
              <a:t>Python 3.1</a:t>
            </a:r>
            <a:r>
              <a:rPr lang="en-US" sz="2200" dirty="0"/>
              <a:t>4</a:t>
            </a:r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0122B5-F65E-1A7B-3A3A-782B1A17862F}"/>
              </a:ext>
            </a:extLst>
          </p:cNvPr>
          <p:cNvSpPr txBox="1"/>
          <p:nvPr/>
        </p:nvSpPr>
        <p:spPr>
          <a:xfrm>
            <a:off x="10503824" y="1566275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en-US" sz="2200" dirty="0">
                <a:solidFill>
                  <a:srgbClr val="454240"/>
                </a:solidFill>
              </a:rPr>
              <a:t>Postman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D2B23E-CBF8-7C7D-FF2A-66F2D1B2AA4D}"/>
              </a:ext>
            </a:extLst>
          </p:cNvPr>
          <p:cNvSpPr txBox="1"/>
          <p:nvPr/>
        </p:nvSpPr>
        <p:spPr>
          <a:xfrm>
            <a:off x="9601200" y="2195632"/>
            <a:ext cx="35306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1750" dirty="0"/>
              <a:t>Позволяет отправлять тестовые </a:t>
            </a:r>
            <a:r>
              <a:rPr lang="ru-RU" sz="1750" dirty="0" err="1"/>
              <a:t>запрососы</a:t>
            </a:r>
            <a:r>
              <a:rPr lang="ru-RU" sz="1750" dirty="0"/>
              <a:t> к WAF сервису для проверки корректности блокировки атак.</a:t>
            </a:r>
            <a:endParaRPr lang="ru-RU" dirty="0"/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43E3E951-E5CC-97A9-3F25-0E55858A802D}"/>
              </a:ext>
            </a:extLst>
          </p:cNvPr>
          <p:cNvSpPr/>
          <p:nvPr/>
        </p:nvSpPr>
        <p:spPr>
          <a:xfrm>
            <a:off x="477982" y="4666615"/>
            <a:ext cx="3657600" cy="769441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A87370-D747-A038-CB51-1CDDB6FC2DE7}"/>
              </a:ext>
            </a:extLst>
          </p:cNvPr>
          <p:cNvSpPr txBox="1"/>
          <p:nvPr/>
        </p:nvSpPr>
        <p:spPr>
          <a:xfrm>
            <a:off x="477982" y="5556984"/>
            <a:ext cx="365760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ru-RU" dirty="0"/>
              <a:t>обеспечивают работу веб-сайта: </a:t>
            </a:r>
            <a:r>
              <a:rPr lang="ru-RU" dirty="0" err="1"/>
              <a:t>Flask</a:t>
            </a:r>
            <a:r>
              <a:rPr lang="ru-RU" dirty="0"/>
              <a:t> обрабатывает маршруты и отображает страницы, а </a:t>
            </a:r>
            <a:r>
              <a:rPr lang="ru-RU" dirty="0" err="1"/>
              <a:t>Flask-Login</a:t>
            </a:r>
            <a:r>
              <a:rPr lang="ru-RU" dirty="0"/>
              <a:t> управляет входом пользователей и защищает личный кабинет от неавторизованного доступа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30FF3C-B0AE-667D-67DC-5C572572D9BF}"/>
              </a:ext>
            </a:extLst>
          </p:cNvPr>
          <p:cNvSpPr txBox="1"/>
          <p:nvPr/>
        </p:nvSpPr>
        <p:spPr>
          <a:xfrm>
            <a:off x="765002" y="4835891"/>
            <a:ext cx="30835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en-US" dirty="0"/>
              <a:t>Flask </a:t>
            </a:r>
            <a:r>
              <a:rPr lang="ru-RU" dirty="0"/>
              <a:t>и </a:t>
            </a:r>
            <a:r>
              <a:rPr lang="ru-RU" sz="2200" b="1" dirty="0" err="1"/>
              <a:t>Flask-Login</a:t>
            </a:r>
            <a:endParaRPr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DB71CE-A097-A4E3-D8A1-C3CD4049E358}"/>
              </a:ext>
            </a:extLst>
          </p:cNvPr>
          <p:cNvSpPr txBox="1"/>
          <p:nvPr/>
        </p:nvSpPr>
        <p:spPr>
          <a:xfrm>
            <a:off x="5157240" y="5577578"/>
            <a:ext cx="36576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ru-RU" dirty="0"/>
              <a:t>обеспечивает работу с базой данных </a:t>
            </a:r>
            <a:r>
              <a:rPr lang="ru-RU" dirty="0" err="1"/>
              <a:t>SQLite</a:t>
            </a:r>
            <a:r>
              <a:rPr lang="ru-RU" dirty="0"/>
              <a:t>: создает таблицы пользователей, статистики и блокировок, а также выполняет все операции</a:t>
            </a:r>
            <a:r>
              <a:rPr lang="en-US" dirty="0"/>
              <a:t> </a:t>
            </a:r>
            <a:r>
              <a:rPr lang="ru-RU" dirty="0"/>
              <a:t>с данными</a:t>
            </a:r>
          </a:p>
        </p:txBody>
      </p:sp>
      <p:sp>
        <p:nvSpPr>
          <p:cNvPr id="38" name="Rounded Rectangle 3">
            <a:extLst>
              <a:ext uri="{FF2B5EF4-FFF2-40B4-BE49-F238E27FC236}">
                <a16:creationId xmlns:a16="http://schemas.microsoft.com/office/drawing/2014/main" id="{207724BE-82FE-8758-C91C-2414E3A88124}"/>
              </a:ext>
            </a:extLst>
          </p:cNvPr>
          <p:cNvSpPr/>
          <p:nvPr/>
        </p:nvSpPr>
        <p:spPr>
          <a:xfrm>
            <a:off x="9474200" y="4650209"/>
            <a:ext cx="3657600" cy="769441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0BBA95-67CF-36AC-3047-6DC298B08EF1}"/>
              </a:ext>
            </a:extLst>
          </p:cNvPr>
          <p:cNvSpPr txBox="1"/>
          <p:nvPr/>
        </p:nvSpPr>
        <p:spPr>
          <a:xfrm>
            <a:off x="10735021" y="4844385"/>
            <a:ext cx="126295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en-US" sz="2200" dirty="0" err="1">
                <a:solidFill>
                  <a:srgbClr val="454240"/>
                </a:solidFill>
              </a:rPr>
              <a:t>aiohttp</a:t>
            </a:r>
            <a:endParaRPr lang="en-US" sz="2200" dirty="0">
              <a:solidFill>
                <a:srgbClr val="45424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EA7B24-F8F4-20D4-2E2F-309474C6770B}"/>
              </a:ext>
            </a:extLst>
          </p:cNvPr>
          <p:cNvSpPr txBox="1"/>
          <p:nvPr/>
        </p:nvSpPr>
        <p:spPr>
          <a:xfrm>
            <a:off x="9601200" y="5556984"/>
            <a:ext cx="365760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ru-RU" dirty="0"/>
              <a:t>асинхронный сервер для прокси. Принимает запросы, проверяет API-ключ, блокирует атаки и перенаправляет чистые запросы на целевой сайт.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6249" y="604865"/>
            <a:ext cx="527944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классы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 rot="5400000" flipV="1">
            <a:off x="25708" y="4667610"/>
            <a:ext cx="3771182" cy="45719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4536" y="2693689"/>
            <a:ext cx="3139440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9080" y="3519695"/>
            <a:ext cx="313943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4536" y="4436676"/>
            <a:ext cx="3103982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14271" y="2696498"/>
            <a:ext cx="3064511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sz="2200" dirty="0"/>
              <a:t>User </a:t>
            </a:r>
            <a:endParaRPr dirty="0">
              <a:solidFill>
                <a:srgbClr val="45424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18180" y="2665510"/>
            <a:ext cx="91084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000" dirty="0"/>
              <a:t>модель пользователя (</a:t>
            </a:r>
            <a:r>
              <a:rPr lang="ru-RU" sz="2000" dirty="0" err="1"/>
              <a:t>email</a:t>
            </a:r>
            <a:r>
              <a:rPr lang="ru-RU" sz="2000" dirty="0"/>
              <a:t>, пароль, API-ключ, настройки </a:t>
            </a:r>
            <a:r>
              <a:rPr lang="ru-RU" sz="2000" dirty="0" err="1"/>
              <a:t>rate</a:t>
            </a:r>
            <a:r>
              <a:rPr lang="ru-RU" sz="2000" dirty="0"/>
              <a:t> </a:t>
            </a:r>
            <a:r>
              <a:rPr lang="ru-RU" sz="2000" dirty="0" err="1"/>
              <a:t>limit</a:t>
            </a:r>
            <a:r>
              <a:rPr lang="ru-RU" sz="2000" dirty="0"/>
              <a:t>)</a:t>
            </a:r>
            <a:endParaRPr sz="2000" dirty="0">
              <a:solidFill>
                <a:srgbClr val="23222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212851" y="3510632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sz="2200" dirty="0" err="1"/>
              <a:t>Statistic</a:t>
            </a:r>
            <a:r>
              <a:rPr lang="ru-RU" sz="2200" dirty="0"/>
              <a:t> 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658080" y="3526540"/>
            <a:ext cx="898916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000" dirty="0"/>
              <a:t>модель логов запросов (тип запроса, метод, IP, URL, сработавшее правило</a:t>
            </a:r>
            <a:r>
              <a:rPr lang="ru-RU" sz="1750" dirty="0"/>
              <a:t>)</a:t>
            </a:r>
            <a:endParaRPr dirty="0">
              <a:solidFill>
                <a:srgbClr val="232227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47999" y="4468124"/>
            <a:ext cx="904880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000" dirty="0"/>
              <a:t>модель заблокированных IP (IP-адрес, время блокировки, причина)</a:t>
            </a:r>
            <a:endParaRPr sz="2000" dirty="0">
              <a:solidFill>
                <a:srgbClr val="232227"/>
              </a:solidFill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2772B548-0B16-B6D6-654C-A870D03D143A}"/>
              </a:ext>
            </a:extLst>
          </p:cNvPr>
          <p:cNvSpPr/>
          <p:nvPr/>
        </p:nvSpPr>
        <p:spPr>
          <a:xfrm>
            <a:off x="294536" y="5274314"/>
            <a:ext cx="3103984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49203B3D-9610-EE9A-3F98-2F7DFB952681}"/>
              </a:ext>
            </a:extLst>
          </p:cNvPr>
          <p:cNvSpPr/>
          <p:nvPr/>
        </p:nvSpPr>
        <p:spPr>
          <a:xfrm>
            <a:off x="294536" y="6189980"/>
            <a:ext cx="3103984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b="1" dirty="0" err="1">
                <a:solidFill>
                  <a:srgbClr val="454240"/>
                </a:solidFill>
              </a:rPr>
              <a:t>WAFCore</a:t>
            </a:r>
            <a:r>
              <a:rPr lang="ru-RU" dirty="0"/>
              <a:t> </a:t>
            </a:r>
            <a:endParaRPr sz="2200" b="1" dirty="0">
              <a:solidFill>
                <a:srgbClr val="454240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BC7409DA-C7C4-A716-FA9D-86A8A4E0B1FB}"/>
              </a:ext>
            </a:extLst>
          </p:cNvPr>
          <p:cNvSpPr/>
          <p:nvPr/>
        </p:nvSpPr>
        <p:spPr>
          <a:xfrm rot="10800000">
            <a:off x="3218180" y="2912397"/>
            <a:ext cx="493980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C1949B1C-B83D-9B61-8C58-6E167CE0120E}"/>
              </a:ext>
            </a:extLst>
          </p:cNvPr>
          <p:cNvSpPr/>
          <p:nvPr/>
        </p:nvSpPr>
        <p:spPr>
          <a:xfrm rot="10800000">
            <a:off x="3363063" y="3726595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-1130352" y="4459535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sz="2200" dirty="0" err="1"/>
              <a:t>BlockedIP</a:t>
            </a:r>
            <a:r>
              <a:rPr lang="ru-RU" sz="2200" dirty="0"/>
              <a:t> </a:t>
            </a:r>
            <a:endParaRPr dirty="0"/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D18A8913-3A91-A8BB-B127-B2B196517EEC}"/>
              </a:ext>
            </a:extLst>
          </p:cNvPr>
          <p:cNvSpPr/>
          <p:nvPr/>
        </p:nvSpPr>
        <p:spPr>
          <a:xfrm rot="10800000">
            <a:off x="3363062" y="4652576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2D9D5F-DEA5-2170-B82F-72A1C2E0B45F}"/>
              </a:ext>
            </a:extLst>
          </p:cNvPr>
          <p:cNvSpPr txBox="1"/>
          <p:nvPr/>
        </p:nvSpPr>
        <p:spPr>
          <a:xfrm>
            <a:off x="810208" y="5263949"/>
            <a:ext cx="22021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ru-RU" sz="2200" dirty="0" err="1"/>
              <a:t>WAFProxy</a:t>
            </a:r>
            <a:r>
              <a:rPr lang="ru-RU" sz="2200" dirty="0"/>
              <a:t> </a:t>
            </a:r>
            <a:endParaRPr lang="en-US" dirty="0">
              <a:solidFill>
                <a:srgbClr val="454240"/>
              </a:solidFill>
            </a:endParaRP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989F88E0-8CA9-B6F8-0DBC-D7C6B1D1A602}"/>
              </a:ext>
            </a:extLst>
          </p:cNvPr>
          <p:cNvSpPr/>
          <p:nvPr/>
        </p:nvSpPr>
        <p:spPr>
          <a:xfrm rot="10800000">
            <a:off x="3368622" y="5438675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F148E-AE4C-42E6-A533-66F451ED73DF}"/>
              </a:ext>
            </a:extLst>
          </p:cNvPr>
          <p:cNvSpPr txBox="1"/>
          <p:nvPr/>
        </p:nvSpPr>
        <p:spPr>
          <a:xfrm>
            <a:off x="3658079" y="5263949"/>
            <a:ext cx="86387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454240"/>
                </a:solidFill>
              </a:rPr>
              <a:t>асинхронный прокси-сервер (принимает запросы, проверяет атаки, </a:t>
            </a:r>
            <a:r>
              <a:rPr lang="ru-RU" sz="2000" dirty="0" err="1">
                <a:solidFill>
                  <a:srgbClr val="454240"/>
                </a:solidFill>
              </a:rPr>
              <a:t>проксирует</a:t>
            </a:r>
            <a:r>
              <a:rPr lang="ru-RU" sz="2000" dirty="0">
                <a:solidFill>
                  <a:srgbClr val="454240"/>
                </a:solidFill>
              </a:rPr>
              <a:t> на целевой сайт)</a:t>
            </a: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5821E5EC-7292-EE97-DB7C-780DE5FA641D}"/>
              </a:ext>
            </a:extLst>
          </p:cNvPr>
          <p:cNvSpPr/>
          <p:nvPr/>
        </p:nvSpPr>
        <p:spPr>
          <a:xfrm rot="10800000">
            <a:off x="3404182" y="6360161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EE9B1D-762B-45B1-2861-300B59AEF935}"/>
              </a:ext>
            </a:extLst>
          </p:cNvPr>
          <p:cNvSpPr txBox="1"/>
          <p:nvPr/>
        </p:nvSpPr>
        <p:spPr>
          <a:xfrm>
            <a:off x="3712160" y="6189980"/>
            <a:ext cx="6405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454240"/>
                </a:solidFill>
              </a:rPr>
              <a:t>ядро WAF (проверка запросов по правилам, </a:t>
            </a:r>
            <a:r>
              <a:rPr lang="ru-RU" sz="2000" dirty="0" err="1">
                <a:solidFill>
                  <a:srgbClr val="454240"/>
                </a:solidFill>
              </a:rPr>
              <a:t>rate</a:t>
            </a:r>
            <a:r>
              <a:rPr lang="ru-RU" sz="2000" dirty="0">
                <a:solidFill>
                  <a:srgbClr val="454240"/>
                </a:solidFill>
              </a:rPr>
              <a:t> </a:t>
            </a:r>
            <a:r>
              <a:rPr lang="ru-RU" sz="2000" dirty="0" err="1">
                <a:solidFill>
                  <a:srgbClr val="454240"/>
                </a:solidFill>
              </a:rPr>
              <a:t>limiting</a:t>
            </a:r>
            <a:r>
              <a:rPr lang="ru-RU" sz="2000" dirty="0">
                <a:solidFill>
                  <a:srgbClr val="45424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0664" y="246559"/>
            <a:ext cx="127000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ru-RU" dirty="0"/>
              <a:t>Функционал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71329" y="1596099"/>
            <a:ext cx="4772271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Дашборд с графиком атак</a:t>
            </a:r>
            <a:endParaRPr sz="2500" dirty="0"/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244F73E8-4A79-3334-09CE-795F1D69B0B4}"/>
              </a:ext>
            </a:extLst>
          </p:cNvPr>
          <p:cNvSpPr/>
          <p:nvPr/>
        </p:nvSpPr>
        <p:spPr>
          <a:xfrm rot="16200000" flipV="1">
            <a:off x="-2194118" y="4073682"/>
            <a:ext cx="5751522" cy="45719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B6B431EA-407A-E779-2972-C231337D3B3A}"/>
              </a:ext>
            </a:extLst>
          </p:cNvPr>
          <p:cNvSpPr/>
          <p:nvPr/>
        </p:nvSpPr>
        <p:spPr>
          <a:xfrm>
            <a:off x="460664" y="1591858"/>
            <a:ext cx="40447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8680D718-3F81-C4A2-875C-0F891F5343CD}"/>
              </a:ext>
            </a:extLst>
          </p:cNvPr>
          <p:cNvSpPr/>
          <p:nvPr/>
        </p:nvSpPr>
        <p:spPr>
          <a:xfrm>
            <a:off x="456543" y="4711700"/>
            <a:ext cx="40447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720002B9-ED20-C8D6-FCAC-BCE5C2CE5483}"/>
              </a:ext>
            </a:extLst>
          </p:cNvPr>
          <p:cNvSpPr/>
          <p:nvPr/>
        </p:nvSpPr>
        <p:spPr>
          <a:xfrm rot="5400000">
            <a:off x="988785" y="1649008"/>
            <a:ext cx="45719" cy="317500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90E887-0D42-E146-EC96-543CCE61813E}"/>
              </a:ext>
            </a:extLst>
          </p:cNvPr>
          <p:cNvSpPr txBox="1"/>
          <p:nvPr/>
        </p:nvSpPr>
        <p:spPr>
          <a:xfrm>
            <a:off x="1170395" y="2697946"/>
            <a:ext cx="5935905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Таблица последних атак с сортировкой</a:t>
            </a:r>
            <a:endParaRPr sz="2500" dirty="0"/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453B1ADD-447F-7AEA-7B61-1CFE2007A5D2}"/>
              </a:ext>
            </a:extLst>
          </p:cNvPr>
          <p:cNvSpPr/>
          <p:nvPr/>
        </p:nvSpPr>
        <p:spPr>
          <a:xfrm>
            <a:off x="460664" y="2720573"/>
            <a:ext cx="40447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4">
            <a:extLst>
              <a:ext uri="{FF2B5EF4-FFF2-40B4-BE49-F238E27FC236}">
                <a16:creationId xmlns:a16="http://schemas.microsoft.com/office/drawing/2014/main" id="{4E7BB9D4-66FE-6664-19B7-4D34266374B4}"/>
              </a:ext>
            </a:extLst>
          </p:cNvPr>
          <p:cNvSpPr/>
          <p:nvPr/>
        </p:nvSpPr>
        <p:spPr>
          <a:xfrm rot="5400000">
            <a:off x="1004759" y="2780032"/>
            <a:ext cx="45719" cy="317500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id="{3B29D4CE-580A-7D39-8DFE-66176EDA00B9}"/>
              </a:ext>
            </a:extLst>
          </p:cNvPr>
          <p:cNvSpPr/>
          <p:nvPr/>
        </p:nvSpPr>
        <p:spPr>
          <a:xfrm>
            <a:off x="464389" y="3683000"/>
            <a:ext cx="40447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4B7EEA8-B5DA-63CA-F210-FA35AA11C563}"/>
              </a:ext>
            </a:extLst>
          </p:cNvPr>
          <p:cNvSpPr/>
          <p:nvPr/>
        </p:nvSpPr>
        <p:spPr>
          <a:xfrm rot="5400000">
            <a:off x="1001033" y="3741971"/>
            <a:ext cx="45719" cy="317500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BF3E59-8026-708D-DD0E-03195FD3888A}"/>
              </a:ext>
            </a:extLst>
          </p:cNvPr>
          <p:cNvSpPr txBox="1"/>
          <p:nvPr/>
        </p:nvSpPr>
        <p:spPr>
          <a:xfrm>
            <a:off x="1216115" y="3660373"/>
            <a:ext cx="8114921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Возможность добавления пользовательских правил</a:t>
            </a:r>
            <a:endParaRPr sz="2500" dirty="0"/>
          </a:p>
        </p:txBody>
      </p:sp>
      <p:sp>
        <p:nvSpPr>
          <p:cNvPr id="48" name="Rounded Rectangle 4">
            <a:extLst>
              <a:ext uri="{FF2B5EF4-FFF2-40B4-BE49-F238E27FC236}">
                <a16:creationId xmlns:a16="http://schemas.microsoft.com/office/drawing/2014/main" id="{26D581F4-93E5-C576-2A2F-4EC981FF5BB4}"/>
              </a:ext>
            </a:extLst>
          </p:cNvPr>
          <p:cNvSpPr/>
          <p:nvPr/>
        </p:nvSpPr>
        <p:spPr>
          <a:xfrm rot="5400000">
            <a:off x="986836" y="4774597"/>
            <a:ext cx="45719" cy="317500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DBEA1D-C79F-FC2B-1CF2-3812A16C4DBA}"/>
              </a:ext>
            </a:extLst>
          </p:cNvPr>
          <p:cNvSpPr txBox="1"/>
          <p:nvPr/>
        </p:nvSpPr>
        <p:spPr>
          <a:xfrm>
            <a:off x="1163515" y="4688156"/>
            <a:ext cx="956017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Декоратор @waf_check для интеграции в </a:t>
            </a:r>
            <a:r>
              <a:rPr lang="ru-RU" sz="2500" dirty="0" err="1"/>
              <a:t>Flask</a:t>
            </a:r>
            <a:r>
              <a:rPr lang="ru-RU" sz="2500" dirty="0"/>
              <a:t>-приложения</a:t>
            </a:r>
            <a:endParaRPr sz="2500" dirty="0"/>
          </a:p>
        </p:txBody>
      </p:sp>
      <p:sp>
        <p:nvSpPr>
          <p:cNvPr id="52" name="Rounded Rectangle 7">
            <a:extLst>
              <a:ext uri="{FF2B5EF4-FFF2-40B4-BE49-F238E27FC236}">
                <a16:creationId xmlns:a16="http://schemas.microsoft.com/office/drawing/2014/main" id="{5209C22D-6681-95CC-3A3E-3FC6B79C4D87}"/>
              </a:ext>
            </a:extLst>
          </p:cNvPr>
          <p:cNvSpPr/>
          <p:nvPr/>
        </p:nvSpPr>
        <p:spPr>
          <a:xfrm>
            <a:off x="455607" y="5939187"/>
            <a:ext cx="40447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12AA56D5-2C16-B932-97CC-714D38F2BE65}"/>
              </a:ext>
            </a:extLst>
          </p:cNvPr>
          <p:cNvSpPr/>
          <p:nvPr/>
        </p:nvSpPr>
        <p:spPr>
          <a:xfrm rot="5400000">
            <a:off x="993746" y="5987105"/>
            <a:ext cx="45719" cy="317500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D3031E-0B3C-F92E-0A5A-8CE3626EE357}"/>
              </a:ext>
            </a:extLst>
          </p:cNvPr>
          <p:cNvSpPr txBox="1"/>
          <p:nvPr/>
        </p:nvSpPr>
        <p:spPr>
          <a:xfrm>
            <a:off x="1163515" y="5929785"/>
            <a:ext cx="956017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Защита от вредоносных GET, POST, PUT, DELETE запросов</a:t>
            </a:r>
            <a:endParaRPr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01782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 err="1"/>
              <a:t>Перспективы</a:t>
            </a:r>
            <a:r>
              <a:rPr dirty="0"/>
              <a:t> </a:t>
            </a:r>
            <a:r>
              <a:rPr dirty="0" err="1"/>
              <a:t>развития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3436932"/>
            <a:ext cx="7543800" cy="2015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sz="2500" dirty="0"/>
              <a:t>Внедрение </a:t>
            </a:r>
            <a:r>
              <a:rPr lang="ru-RU" sz="2500" dirty="0" err="1"/>
              <a:t>искуственного</a:t>
            </a:r>
            <a:r>
              <a:rPr lang="ru-RU" sz="2500" dirty="0"/>
              <a:t> </a:t>
            </a:r>
            <a:r>
              <a:rPr lang="ru-RU" sz="2500" dirty="0" err="1"/>
              <a:t>интелекта</a:t>
            </a:r>
            <a:r>
              <a:rPr lang="ru-RU" sz="2500" dirty="0"/>
              <a:t> для обнаружения аномалий и новых типов атак</a:t>
            </a:r>
            <a:r>
              <a:rPr lang="en-US" sz="2500" dirty="0"/>
              <a:t>, </a:t>
            </a:r>
            <a:r>
              <a:rPr lang="ru-RU" sz="2500" dirty="0"/>
              <a:t>отправка отчета об атаках на почту владельца сайта</a:t>
            </a:r>
            <a:r>
              <a:rPr lang="en-US" sz="2500" dirty="0"/>
              <a:t>, </a:t>
            </a:r>
            <a:r>
              <a:rPr lang="ru-RU" sz="2500" dirty="0"/>
              <a:t>возможность</a:t>
            </a:r>
            <a:r>
              <a:rPr lang="en-US" sz="2500" dirty="0"/>
              <a:t> </a:t>
            </a:r>
            <a:r>
              <a:rPr lang="ru-RU" sz="2500" dirty="0"/>
              <a:t>для разработчиков управлять правилами и блокировками через REST API</a:t>
            </a:r>
            <a:endParaRPr sz="2500" dirty="0"/>
          </a:p>
        </p:txBody>
      </p:sp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DFD469DD-9CA0-1B4D-9C91-F7A70D86E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20" y="93518"/>
            <a:ext cx="7179680" cy="7999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346</Words>
  <Application>Microsoft Office PowerPoint</Application>
  <PresentationFormat>Произвольный</PresentationFormat>
  <Paragraphs>42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Libre Baskerville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Матвей Н</cp:lastModifiedBy>
  <cp:revision>5</cp:revision>
  <dcterms:created xsi:type="dcterms:W3CDTF">2013-01-27T09:14:16Z</dcterms:created>
  <dcterms:modified xsi:type="dcterms:W3CDTF">2026-05-11T18:54:54Z</dcterms:modified>
  <cp:category/>
</cp:coreProperties>
</file>